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7" r:id="rId5"/>
    <p:sldId id="268" r:id="rId6"/>
    <p:sldId id="261" r:id="rId7"/>
    <p:sldId id="262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63" r:id="rId16"/>
    <p:sldId id="264" r:id="rId17"/>
    <p:sldId id="265" r:id="rId18"/>
    <p:sldId id="266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B7F10-A0A9-4887-91F2-28F623E84C7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1D66-E301-412D-96B5-44D03DB4A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721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B1D66-E301-412D-96B5-44D03DB4A3E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665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469" y="542036"/>
            <a:ext cx="212915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372725" cy="657225"/>
          </a:xfrm>
          <a:custGeom>
            <a:avLst/>
            <a:gdLst/>
            <a:ahLst/>
            <a:cxnLst/>
            <a:rect l="l" t="t" r="r" b="b"/>
            <a:pathLst>
              <a:path w="10372725" h="657225">
                <a:moveTo>
                  <a:pt x="10372725" y="0"/>
                </a:moveTo>
                <a:lnTo>
                  <a:pt x="0" y="0"/>
                </a:lnTo>
                <a:lnTo>
                  <a:pt x="0" y="657225"/>
                </a:lnTo>
                <a:lnTo>
                  <a:pt x="10372725" y="657225"/>
                </a:lnTo>
                <a:lnTo>
                  <a:pt x="10372725" y="0"/>
                </a:lnTo>
                <a:close/>
              </a:path>
            </a:pathLst>
          </a:custGeom>
          <a:solidFill>
            <a:srgbClr val="2535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696075"/>
            <a:ext cx="12192000" cy="161925"/>
          </a:xfrm>
          <a:custGeom>
            <a:avLst/>
            <a:gdLst/>
            <a:ahLst/>
            <a:cxnLst/>
            <a:rect l="l" t="t" r="r" b="b"/>
            <a:pathLst>
              <a:path w="12192000" h="161925">
                <a:moveTo>
                  <a:pt x="12192000" y="0"/>
                </a:moveTo>
                <a:lnTo>
                  <a:pt x="0" y="0"/>
                </a:lnTo>
                <a:lnTo>
                  <a:pt x="0" y="161925"/>
                </a:lnTo>
                <a:lnTo>
                  <a:pt x="12192000" y="1619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34A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26338" y="134286"/>
            <a:ext cx="1357906" cy="3864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469" y="542036"/>
            <a:ext cx="7387590" cy="9162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907" y="1547749"/>
            <a:ext cx="10413365" cy="392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3429000"/>
              <a:ext cx="390525" cy="3429000"/>
            </a:xfrm>
            <a:custGeom>
              <a:avLst/>
              <a:gdLst/>
              <a:ahLst/>
              <a:cxnLst/>
              <a:rect l="l" t="t" r="r" b="b"/>
              <a:pathLst>
                <a:path w="390525" h="3429000">
                  <a:moveTo>
                    <a:pt x="0" y="3429000"/>
                  </a:moveTo>
                  <a:lnTo>
                    <a:pt x="390524" y="3429000"/>
                  </a:lnTo>
                  <a:lnTo>
                    <a:pt x="390525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28600" cy="3429000"/>
            </a:xfrm>
            <a:custGeom>
              <a:avLst/>
              <a:gdLst/>
              <a:ahLst/>
              <a:cxnLst/>
              <a:rect l="l" t="t" r="r" b="b"/>
              <a:pathLst>
                <a:path w="228600" h="3429000">
                  <a:moveTo>
                    <a:pt x="2286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228600" y="34290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5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505575"/>
              <a:ext cx="12192000" cy="352425"/>
            </a:xfrm>
            <a:custGeom>
              <a:avLst/>
              <a:gdLst/>
              <a:ahLst/>
              <a:cxnLst/>
              <a:rect l="l" t="t" r="r" b="b"/>
              <a:pathLst>
                <a:path w="12192000" h="352425">
                  <a:moveTo>
                    <a:pt x="0" y="352425"/>
                  </a:moveTo>
                  <a:lnTo>
                    <a:pt x="12192000" y="3524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52425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A black background with grey text  AI-generated content may be incorrec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670" y="360388"/>
              <a:ext cx="1595980" cy="4560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8750" y="238061"/>
              <a:ext cx="6415151" cy="65104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91150" y="266700"/>
              <a:ext cx="6115050" cy="6210300"/>
            </a:xfrm>
            <a:custGeom>
              <a:avLst/>
              <a:gdLst/>
              <a:ahLst/>
              <a:cxnLst/>
              <a:rect l="l" t="t" r="r" b="b"/>
              <a:pathLst>
                <a:path w="6115050" h="6210300">
                  <a:moveTo>
                    <a:pt x="6115050" y="0"/>
                  </a:moveTo>
                  <a:lnTo>
                    <a:pt x="0" y="0"/>
                  </a:lnTo>
                  <a:lnTo>
                    <a:pt x="0" y="6210300"/>
                  </a:lnTo>
                  <a:lnTo>
                    <a:pt x="6115050" y="6210300"/>
                  </a:lnTo>
                  <a:lnTo>
                    <a:pt x="6115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0325" y="962025"/>
              <a:ext cx="4591050" cy="4933950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96582" y="1239138"/>
            <a:ext cx="32023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5" dirty="0">
                <a:latin typeface="Calibri"/>
                <a:cs typeface="Calibri"/>
              </a:rPr>
              <a:t>CAPSTONE</a:t>
            </a:r>
            <a:r>
              <a:rPr sz="2750" spc="-100" dirty="0">
                <a:latin typeface="Calibri"/>
                <a:cs typeface="Calibri"/>
              </a:rPr>
              <a:t> </a:t>
            </a:r>
            <a:r>
              <a:rPr sz="2750" spc="120" dirty="0">
                <a:latin typeface="Calibri"/>
                <a:cs typeface="Calibri"/>
              </a:rPr>
              <a:t>PROJECT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6582" y="2269426"/>
            <a:ext cx="4804093" cy="3403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100" b="1" spc="315" dirty="0">
                <a:latin typeface="Calibri"/>
                <a:cs typeface="Calibri"/>
              </a:rPr>
              <a:t>PROJECT</a:t>
            </a:r>
            <a:r>
              <a:rPr sz="5100" b="1" spc="-140" dirty="0">
                <a:latin typeface="Calibri"/>
                <a:cs typeface="Calibri"/>
              </a:rPr>
              <a:t> </a:t>
            </a:r>
            <a:r>
              <a:rPr sz="5100" b="1" spc="195" dirty="0">
                <a:latin typeface="Calibri"/>
                <a:cs typeface="Calibri"/>
              </a:rPr>
              <a:t>TITLE</a:t>
            </a:r>
            <a:endParaRPr sz="5100" dirty="0">
              <a:latin typeface="Calibri"/>
              <a:cs typeface="Calibri"/>
            </a:endParaRPr>
          </a:p>
          <a:p>
            <a:pPr marL="88900" marR="2707005">
              <a:lnSpc>
                <a:spcPct val="179700"/>
              </a:lnSpc>
              <a:spcBef>
                <a:spcPts val="3995"/>
              </a:spcBef>
            </a:pPr>
            <a:r>
              <a:rPr sz="1550" b="1" spc="140" dirty="0">
                <a:latin typeface="Calibri"/>
                <a:cs typeface="Calibri"/>
              </a:rPr>
              <a:t>PRESENTED</a:t>
            </a:r>
            <a:r>
              <a:rPr sz="1550" b="1" spc="40" dirty="0">
                <a:latin typeface="Calibri"/>
                <a:cs typeface="Calibri"/>
              </a:rPr>
              <a:t> BY</a:t>
            </a:r>
            <a:r>
              <a:rPr lang="en-US" sz="1550" b="1" spc="40" dirty="0">
                <a:latin typeface="Calibri"/>
                <a:cs typeface="Calibri"/>
              </a:rPr>
              <a:t> : </a:t>
            </a:r>
            <a:br>
              <a:rPr lang="en-IN" sz="1600" dirty="0"/>
            </a:br>
            <a:r>
              <a:rPr sz="1550" b="1" spc="110" dirty="0">
                <a:latin typeface="Calibri"/>
                <a:cs typeface="Calibri"/>
              </a:rPr>
              <a:t>STUDENT</a:t>
            </a:r>
            <a:r>
              <a:rPr sz="1550" b="1" dirty="0">
                <a:latin typeface="Calibri"/>
                <a:cs typeface="Calibri"/>
              </a:rPr>
              <a:t> </a:t>
            </a:r>
            <a:r>
              <a:rPr sz="1550" b="1" spc="40" dirty="0">
                <a:latin typeface="Calibri"/>
                <a:cs typeface="Calibri"/>
              </a:rPr>
              <a:t>NAME: </a:t>
            </a:r>
            <a:r>
              <a:rPr sz="1550" b="1" spc="170" dirty="0">
                <a:latin typeface="Calibri"/>
                <a:cs typeface="Calibri"/>
              </a:rPr>
              <a:t>COLLEGE</a:t>
            </a:r>
            <a:r>
              <a:rPr sz="1550" b="1" spc="-40" dirty="0">
                <a:latin typeface="Calibri"/>
                <a:cs typeface="Calibri"/>
              </a:rPr>
              <a:t> </a:t>
            </a:r>
            <a:r>
              <a:rPr sz="1550" b="1" spc="55" dirty="0">
                <a:latin typeface="Calibri"/>
                <a:cs typeface="Calibri"/>
              </a:rPr>
              <a:t>NAME: </a:t>
            </a:r>
            <a:r>
              <a:rPr sz="1550" b="1" spc="65" dirty="0">
                <a:latin typeface="Calibri"/>
                <a:cs typeface="Calibri"/>
              </a:rPr>
              <a:t>DEPARTMENT: EMAIL</a:t>
            </a:r>
            <a:r>
              <a:rPr sz="1550" b="1" spc="55" dirty="0">
                <a:latin typeface="Calibri"/>
                <a:cs typeface="Calibri"/>
              </a:rPr>
              <a:t> </a:t>
            </a:r>
            <a:r>
              <a:rPr sz="1550" b="1" spc="45" dirty="0">
                <a:latin typeface="Calibri"/>
                <a:cs typeface="Calibri"/>
              </a:rPr>
              <a:t>ID:</a:t>
            </a:r>
            <a:endParaRPr sz="15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9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-10" dirty="0"/>
              <a:t>OUTLINE: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512444" y="1703196"/>
            <a:ext cx="6943725" cy="3592829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318135" indent="-305435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Problem</a:t>
            </a:r>
            <a:r>
              <a:rPr sz="2150" b="1" spc="220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Statement</a:t>
            </a:r>
            <a:r>
              <a:rPr sz="2150" b="1" spc="16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(Should</a:t>
            </a:r>
            <a:r>
              <a:rPr sz="2150" spc="114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not</a:t>
            </a:r>
            <a:r>
              <a:rPr sz="2150" spc="12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include</a:t>
            </a:r>
            <a:r>
              <a:rPr sz="2150" spc="195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solution)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Proposed</a:t>
            </a:r>
            <a:r>
              <a:rPr sz="2150" b="1" spc="215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System/Solution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System</a:t>
            </a:r>
            <a:r>
              <a:rPr sz="2150" b="1" spc="200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Development</a:t>
            </a:r>
            <a:r>
              <a:rPr sz="2150" b="1" spc="35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Approach</a:t>
            </a:r>
            <a:r>
              <a:rPr sz="2150" b="1" spc="225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(Technology</a:t>
            </a:r>
            <a:r>
              <a:rPr sz="2150" spc="140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Used)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Algorithm</a:t>
            </a:r>
            <a:r>
              <a:rPr sz="2150" b="1" spc="130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&amp;</a:t>
            </a:r>
            <a:r>
              <a:rPr sz="2150" b="1" spc="114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Deployment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Result</a:t>
            </a:r>
            <a:r>
              <a:rPr sz="2150" b="1" spc="175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(Output</a:t>
            </a:r>
            <a:r>
              <a:rPr sz="2150" b="1" spc="175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Image)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spc="-10" dirty="0">
                <a:latin typeface="Arial"/>
                <a:cs typeface="Arial"/>
              </a:rPr>
              <a:t>Conclusion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Future</a:t>
            </a:r>
            <a:r>
              <a:rPr sz="2150" b="1" spc="155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Scope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150" b="1" spc="-10" dirty="0">
                <a:latin typeface="Arial"/>
                <a:cs typeface="Arial"/>
              </a:rPr>
              <a:t>References</a:t>
            </a:r>
            <a:endParaRPr sz="21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60" dirty="0"/>
              <a:t> </a:t>
            </a:r>
            <a:r>
              <a:rPr spc="-55" dirty="0"/>
              <a:t>STATEMENT: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5D4508-8999-4008-C000-FE04683D1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6225" y="1547813"/>
            <a:ext cx="10412413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energy consumption and waste generation in smart cities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predicting future demand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proper visualization for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sustainable resource management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7017329-7806-0102-6047-7C06536E3AC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6200" y="533400"/>
            <a:ext cx="531491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3600" dirty="0"/>
              <a:t>PROPOSED</a:t>
            </a:r>
            <a:r>
              <a:rPr lang="en-IN" sz="3600" spc="85" dirty="0"/>
              <a:t> </a:t>
            </a:r>
            <a:r>
              <a:rPr lang="en-IN" sz="3600" spc="-10" dirty="0"/>
              <a:t>SOLUTION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FD5FA3F-7CB5-4017-5F0B-926CC725B046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228600" y="1246644"/>
            <a:ext cx="1196340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and 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analyze sustainability data such as energy consumption, waste generation, and renewable energy usage.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structured dataset is created and processed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libraries (Pandas, NumPy)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accurate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 techniques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cleaning, normalization, and feature selection are applied to improve model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machine learning models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Regression, Random Forest, and Decision Tree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used to predict future energy consumption and identify patterns.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 Clustering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applied to categorize regions into different sustainability levels (Low, Medium, High).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Sustainability 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developed using weighted environmental factors to measure overall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performs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analytics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forecast future trends (up to 2035), helping in better planning and resource allocation.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designed to visualize insights like city-wise comparison, yearly trends, and KPI indicators.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recommendations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such as improving waste management and increasing renewable energy usage.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system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 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smart city development and sustainable resource management. </a:t>
            </a:r>
          </a:p>
        </p:txBody>
      </p:sp>
    </p:spTree>
    <p:extLst>
      <p:ext uri="{BB962C8B-B14F-4D97-AF65-F5344CB8AC3E}">
        <p14:creationId xmlns:p14="http://schemas.microsoft.com/office/powerpoint/2010/main" val="3211125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9383D-DE2F-8465-DCED-B55DF0506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69" y="542036"/>
            <a:ext cx="7387590" cy="607859"/>
          </a:xfrm>
        </p:spPr>
        <p:txBody>
          <a:bodyPr/>
          <a:lstStyle/>
          <a:p>
            <a:r>
              <a:rPr lang="en-IN" spc="-10" dirty="0"/>
              <a:t>SYSTEM APPROACH: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BFBE32-1E8D-8D72-8819-833906FA98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1" y="1050012"/>
            <a:ext cx="121158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as the main programming language for data analysis, machine learning, and overall project development due to its simplicity and powerful libraries.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data manipulation and preprocessing such as handling missing values, filtering data, and organizing datasets into structured formats.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numerical computations, array operations, and improving performance of mathematical calculations in the dataset.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implement machine learning models like Linear Regression, Random Forest, Decision Tree, and K-Means Clustering for prediction and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create interactive dashboards and visualizations such as charts, graphs, KPI indicators, and reports for better understanding of data insights.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as a cloud-based platform to write and execute Python code, train models, and manage datasets without requiring local setup.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Techniques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supervised and unsupervised learning methods for prediction, classification, and clustering of sustainability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 Tools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charts, graphs, and dashboards to represent complex data in an easy-to-understand visual format. </a:t>
            </a:r>
          </a:p>
        </p:txBody>
      </p:sp>
    </p:spTree>
    <p:extLst>
      <p:ext uri="{BB962C8B-B14F-4D97-AF65-F5344CB8AC3E}">
        <p14:creationId xmlns:p14="http://schemas.microsoft.com/office/powerpoint/2010/main" val="346862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469" y="542036"/>
            <a:ext cx="7387590" cy="708078"/>
          </a:xfrm>
          <a:prstGeom prst="rect">
            <a:avLst/>
          </a:prstGeom>
        </p:spPr>
        <p:txBody>
          <a:bodyPr vert="horz" wrap="square" lIns="0" tIns="99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ALGORITHM</a:t>
            </a:r>
            <a:r>
              <a:rPr spc="105" dirty="0"/>
              <a:t> </a:t>
            </a:r>
            <a:r>
              <a:rPr dirty="0"/>
              <a:t>&amp;</a:t>
            </a:r>
            <a:r>
              <a:rPr spc="20" dirty="0"/>
              <a:t> </a:t>
            </a:r>
            <a:r>
              <a:rPr spc="65" dirty="0"/>
              <a:t>D</a:t>
            </a:r>
            <a:r>
              <a:rPr spc="-10" dirty="0"/>
              <a:t>E</a:t>
            </a:r>
            <a:r>
              <a:rPr spc="60" dirty="0"/>
              <a:t>P</a:t>
            </a:r>
            <a:r>
              <a:rPr spc="-15" dirty="0"/>
              <a:t>L</a:t>
            </a:r>
            <a:r>
              <a:rPr spc="70" dirty="0"/>
              <a:t>O</a:t>
            </a:r>
            <a:r>
              <a:rPr spc="-10" dirty="0"/>
              <a:t>Y</a:t>
            </a:r>
            <a:r>
              <a:rPr spc="75" dirty="0"/>
              <a:t>M</a:t>
            </a:r>
            <a:r>
              <a:rPr spc="-10" dirty="0"/>
              <a:t>E</a:t>
            </a:r>
            <a:r>
              <a:rPr spc="65" dirty="0"/>
              <a:t>N</a:t>
            </a:r>
            <a:r>
              <a:rPr spc="-465" dirty="0"/>
              <a:t>T</a:t>
            </a:r>
            <a:r>
              <a:rPr spc="20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1A0A93-03EC-BE70-F05D-AE08CB4BA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784060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Regression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better accuracy by handling complex patterns in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prediction and understanding decision rules in sustainability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 Clustering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group data into Low, Medium, and High sustainability zones.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predict energy consumption based on past data (basic model).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R</a:t>
            </a:r>
            <a:r>
              <a:rPr spc="-10" dirty="0"/>
              <a:t>E</a:t>
            </a:r>
            <a:r>
              <a:rPr spc="60" dirty="0"/>
              <a:t>S</a:t>
            </a:r>
            <a:r>
              <a:rPr spc="-5" dirty="0"/>
              <a:t>U</a:t>
            </a:r>
            <a:r>
              <a:rPr spc="-235" dirty="0"/>
              <a:t>L</a:t>
            </a:r>
            <a:r>
              <a:rPr spc="-459" dirty="0"/>
              <a:t>T</a:t>
            </a:r>
            <a:r>
              <a:rPr spc="20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DA1056-D6C8-B1A5-BF01-C002F5BFC1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37982"/>
            <a:ext cx="8534400" cy="422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0217EC-8C0F-D068-BF5C-E0C38B0808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970" y="1371601"/>
            <a:ext cx="9116429" cy="5105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3282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425048-E1B7-8A44-CE22-F509B08D7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50682"/>
            <a:ext cx="9525000" cy="452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621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E9E7B6-2723-7374-CBAF-CF797912A7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43024"/>
            <a:ext cx="9448800" cy="4905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9880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715E45-0681-7413-6E58-AACE22459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52550"/>
            <a:ext cx="9982200" cy="4819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740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9E9326-6175-9A24-1B59-178D0ACDC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45527"/>
            <a:ext cx="9906000" cy="47669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3843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E41B42-63F1-3113-A6B5-68AB669DC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43000"/>
            <a:ext cx="9144000" cy="472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3286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3D5F79-AF2D-3B98-340F-F9DD467FA5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371600"/>
            <a:ext cx="8763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68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2A1826-7290-5C7A-CAC3-BE408C866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05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helps in sustainability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improves planning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helps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smart cities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spc="35" dirty="0"/>
              <a:t> </a:t>
            </a:r>
            <a:r>
              <a:rPr spc="-10" dirty="0"/>
              <a:t>SCOPE: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75907" y="1547749"/>
            <a:ext cx="10413365" cy="1925270"/>
          </a:xfrm>
          <a:prstGeom prst="rect">
            <a:avLst/>
          </a:prstGeom>
        </p:spPr>
        <p:txBody>
          <a:bodyPr vert="horz" wrap="square" lIns="0" tIns="247014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real-time IoT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Improve ML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Deploy as web app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Expand to multiple cities </a:t>
            </a:r>
          </a:p>
          <a:p>
            <a:pPr marL="83820" marR="5080">
              <a:lnSpc>
                <a:spcPct val="91000"/>
              </a:lnSpc>
              <a:spcBef>
                <a:spcPts val="360"/>
              </a:spcBef>
            </a:pPr>
            <a:endParaRPr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590" y="914400"/>
            <a:ext cx="7387590" cy="91624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75907" y="1547749"/>
            <a:ext cx="10413365" cy="2861681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Python Libraries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Power BI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Machine Learning concepts 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Dataset (Generated using Python) </a:t>
            </a: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endParaRPr lang="en-US" dirty="0"/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/>
              <a:t>GitHub</a:t>
            </a:r>
            <a:r>
              <a:rPr spc="35" dirty="0"/>
              <a:t> </a:t>
            </a:r>
            <a:r>
              <a:rPr dirty="0"/>
              <a:t>Link:</a:t>
            </a:r>
            <a:r>
              <a:rPr spc="5" dirty="0"/>
              <a:t> </a:t>
            </a:r>
            <a:r>
              <a:rPr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Link</a:t>
            </a:r>
            <a:endParaRPr lang="en-US" u="sng" spc="-20" dirty="0">
              <a:solidFill>
                <a:srgbClr val="006FC0"/>
              </a:solidFill>
              <a:uFill>
                <a:solidFill>
                  <a:srgbClr val="006FC0"/>
                </a:solidFill>
              </a:uFill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lang="en-US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</a:rPr>
              <a:t>Dataset :</a:t>
            </a:r>
            <a:endParaRPr u="sng" spc="-20" dirty="0">
              <a:solidFill>
                <a:srgbClr val="006FC0"/>
              </a:solidFill>
              <a:uFill>
                <a:solidFill>
                  <a:srgbClr val="006FC0"/>
                </a:solidFill>
              </a:u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54601" y="3028060"/>
            <a:ext cx="30937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dirty="0">
                <a:solidFill>
                  <a:srgbClr val="001F5F"/>
                </a:solidFill>
              </a:rPr>
              <a:t>Thank</a:t>
            </a:r>
            <a:r>
              <a:rPr sz="4800" spc="-195" dirty="0">
                <a:solidFill>
                  <a:srgbClr val="001F5F"/>
                </a:solidFill>
              </a:rPr>
              <a:t> </a:t>
            </a:r>
            <a:r>
              <a:rPr sz="4800" spc="-65" dirty="0">
                <a:solidFill>
                  <a:srgbClr val="001F5F"/>
                </a:solidFill>
              </a:rPr>
              <a:t>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</TotalTime>
  <Words>603</Words>
  <Application>Microsoft Office PowerPoint</Application>
  <PresentationFormat>Widescreen</PresentationFormat>
  <Paragraphs>70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Franklin Gothic Medium</vt:lpstr>
      <vt:lpstr>Office Theme</vt:lpstr>
      <vt:lpstr>CAPSTONE PROJECT</vt:lpstr>
      <vt:lpstr>OUTLINE:</vt:lpstr>
      <vt:lpstr>PROBLEM STATEMENT:</vt:lpstr>
      <vt:lpstr>PROPOSED SOLUTION . </vt:lpstr>
      <vt:lpstr>SYSTEM APPROACH:</vt:lpstr>
      <vt:lpstr>ALGORITHM &amp; DEPLOYMENT:</vt:lpstr>
      <vt:lpstr>RESULT: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  <vt:lpstr>FUTURE SCOPE: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Priyanshi ganvit</cp:lastModifiedBy>
  <cp:revision>1</cp:revision>
  <dcterms:created xsi:type="dcterms:W3CDTF">2026-03-20T04:16:46Z</dcterms:created>
  <dcterms:modified xsi:type="dcterms:W3CDTF">2026-03-31T17:22:39Z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2026-02-13T00:00:00Z</vt:filetime>
  </property>
  <property fmtid="{D5CDD505-2E9C-101B-9397-08002B2CF9AE}" pid="3" name="LastSaved">
    <vt:filetime>2026-03-20T00:00:00Z</vt:filetime>
  </property>
</Properties>
</file>